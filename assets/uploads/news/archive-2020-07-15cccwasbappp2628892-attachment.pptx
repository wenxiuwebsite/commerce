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8" r:id="rId25"/>
    <p:sldId id="261" r:id="rId2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532C-AEF7-4F15-9610-1F35F8777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5E345-5314-4E9E-93F8-784F71843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693A7-63FC-43CE-A446-8737FE97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380A9-1DB3-4DA1-8829-2879B081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E872C-D610-4F9E-AFFB-13FCFBD0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9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1189-9BB7-427A-819D-1E4D39A6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3FE6-4D1D-429D-B77F-6960B5A63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428BF-38DF-452D-93E0-55E021D64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EEF90-09AE-493B-8724-70611093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049E3-C93E-4AEC-89EF-A31BA598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5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1F78-705E-479E-8761-2FD579EA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578FF-E1A8-4947-A53A-454F0C4B6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4C0F3-02C0-431E-99A5-277C66BC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A7510-8963-4EBB-A487-7F766C06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05BC0-2BEB-4272-BD85-9F1D1351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852D-EC3C-4777-90EB-428175CB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1CE89-91BE-4C7E-B194-3A839AF25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9538D-BDA7-4ED1-814D-6228AFE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257A4-FA26-4144-B1BF-DF7537A1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91FD1-6393-4580-93EC-C1DF38E9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E62D9-6891-4550-B3C7-AA6E3659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AC96-C6ED-48D8-ACE9-6B8E55E04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6B8A9-5663-4BFE-A7E4-74BDCC13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1AB24-E110-4206-B174-4B8C5EFF7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4C0F9-F982-45F3-9028-12318CD69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8F5B2-87AB-4699-B438-A0B494CB47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03039-75B3-4923-9B36-578F5D7F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6A0E10-2CEB-4415-B0CD-0B9FE236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B564E-096F-4EC7-AE13-2A9D34AA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93AD-361C-41E0-9765-7D9EE52C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B6FCC-BEFE-4FA8-ABDA-AAB47027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34F10-7761-4DD0-886E-84173893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79FB6-840F-4922-A140-D0DD5290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5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22D72-1D95-4225-9A13-E99D3B1A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33F48-9DCF-4A2C-AF34-8360F4FE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3FA60-EA2F-4A25-B9C0-D3BF0E11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9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4B54-2FD0-43AA-ACCA-FBEB3769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100BF-10F7-437B-86AE-EB3EDDB7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EF5B-ADBA-4D7C-BC1B-BA25641CA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98A73-2534-417F-94EC-769830DE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9315C-AFE3-44DD-B6A1-33FB35D8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587A7-BAD4-419B-9230-79CBFE56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76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3351-A69A-498A-BCEF-CF7C7101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B8710-AFD0-4CE8-AA47-E764BDF4A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51FA1-733C-494C-BD53-843BE1029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B0B35-DCA6-4460-B72D-F48AE83D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2FE31-B56B-49B1-A895-9966C5FF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1C85F-C8DB-421E-93EA-EC429E65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3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D1CB-7C93-440E-95A9-72FF2CFD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0E365-B1AC-4DC2-90E4-2033289D1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6E11-CEF9-4373-ACC2-0CB45A47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31A3-905B-46D3-8EFE-39B039A5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8CC51-2FE0-4484-A195-CE62AE7A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5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2BFA9-3F4D-459F-A07C-F192436C1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5F999-FF0A-4AAD-97B0-90E0D54A9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D9459-554F-4812-A99E-1D5EB17D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55F8A-596B-4161-8BCE-031C845B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057FC-0F4B-4BB8-BF0C-F367C86E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42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556CD-D97B-4AC0-A7DA-259022BE3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D286F-E2F7-4D63-A4DB-C3CBB2B84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687C8-A60D-4728-A66D-8ECFA42D7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C3F6B-63C6-4BFD-BF14-C8226AD38289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CD4E7-5B5B-475D-A6F4-8EE7D4849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81ED-8DFD-4440-A93E-A5B39CC81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2CE2F-65E8-479A-9C32-71BF44D82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1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ba.gov/sites/default/files/2020-06/PPP%20Loan%20Forgiveness%20Application%20Form%20EZ%20Instructions%20%28Revised%2006.16.2020%29-508.pdf" TargetMode="External"/><Relationship Id="rId2" Type="http://schemas.openxmlformats.org/officeDocument/2006/relationships/hyperlink" Target="https://www.sba.gov/sites/default/files/2020-06/3245-0407%20SBA%20Form%203508%20PPP%20Forgiveness%20Application%20FINAL_Simplified%20Chinese%20%281%29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ba.gov/funding-programs/loans/coronavirus-relief-options/paycheck-protection-program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BE20-E483-489E-987D-0FA4AC77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0400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PPP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贷款免还项目</a:t>
            </a:r>
            <a:b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综合介绍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00CD5-797F-4E17-BEDB-4122EDAEF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800" b="1" dirty="0"/>
          </a:p>
          <a:p>
            <a:endParaRPr lang="en-US" altLang="zh-CN" b="1" dirty="0"/>
          </a:p>
          <a:p>
            <a:endParaRPr lang="en-US" altLang="zh-CN" sz="2800" b="1" dirty="0"/>
          </a:p>
          <a:p>
            <a:endParaRPr lang="en-US" altLang="zh-CN" b="1" dirty="0"/>
          </a:p>
          <a:p>
            <a:r>
              <a:rPr lang="zh-CN" altLang="en-US" sz="2000" b="1" dirty="0"/>
              <a:t>本次网络讲座介绍的所有信息，是在现行法案规定下</a:t>
            </a:r>
            <a:r>
              <a:rPr lang="en-US" altLang="zh-CN" sz="2000" b="1" dirty="0"/>
              <a:t>PPP</a:t>
            </a:r>
            <a:r>
              <a:rPr lang="zh-CN" altLang="en-US" sz="2000" b="1" dirty="0"/>
              <a:t>贷款该如何使用和申请免还手续，资料来自美国联邦小企业部和美国财政部近期</a:t>
            </a:r>
            <a:r>
              <a:rPr lang="en-US" altLang="zh-CN" sz="2000" b="1" dirty="0"/>
              <a:t>7</a:t>
            </a:r>
            <a:r>
              <a:rPr lang="zh-CN" altLang="en-US" sz="2000" b="1" dirty="0"/>
              <a:t>月的政策。资讯仅供参考，之后不排除美国联邦小企业部和美国财政部门颁布更新政策和法规，请大家密切关注。</a:t>
            </a:r>
            <a:endParaRPr lang="en-US" sz="2000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C21B9-668C-4F14-A0DB-E42223B92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3233737"/>
            <a:ext cx="499110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3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B9C1B-6493-4990-AA25-140F8BF9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PPP</a:t>
            </a:r>
            <a:r>
              <a:rPr lang="zh-CN" altLang="en-US" dirty="0"/>
              <a:t>计划是什么？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02332D3-DC05-481D-BE0F-B5625762916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569" y="1690688"/>
            <a:ext cx="10515600" cy="378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E43E-DD82-422A-A12C-C4703E90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PPP</a:t>
            </a:r>
            <a:r>
              <a:rPr lang="zh-CN" altLang="en-US" b="1" dirty="0"/>
              <a:t>贷款免还的介绍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FDE99-C9F0-4A9E-85B7-A0260BF47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日，美国联邦小企业局（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SBA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）发放了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贷款减免申请表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3508 EZ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Paycheck Protection Program Loan Forgiveness Application SBA Form 3508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），该申请表是给已经申请了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的企业主填写，向借款方（银行或者贷款代办公司）申请贷款减免。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本期讲座我们将介绍如何申请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贷款免还和注意事项。本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介绍的信息是截至到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号，在现行法案规定下讲解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贷款金额该如何使用和如何申请免还手续，所有信息仅供参考。因目前政策变更频繁，如果您在填写申请表时遇到困难，请咨询专业会计师或者您当时的申请银行。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459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EC76-AC1D-48CD-B220-C0EB00F7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PPP</a:t>
            </a:r>
            <a:r>
              <a:rPr lang="zh-CN" altLang="en-US" b="1" dirty="0"/>
              <a:t>贷款免还要点介绍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F423A-AE54-45BB-9C96-A92690BD8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19" y="1540618"/>
            <a:ext cx="10515600" cy="4351338"/>
          </a:xfrm>
        </p:spPr>
        <p:txBody>
          <a:bodyPr/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日“薪酬保护贷款灵活法案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Paycheck Protection Program Flexibility Act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）正式签署生效，包括以下各项的改进要点：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领取到贷款后，资金使用时间从原来的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周增加到了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周，但最终使用日期不迟于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12/31/2020</a:t>
            </a: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贷款中必须用于员工薪资的比例将从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75%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下降为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60%</a:t>
            </a: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剩余的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40%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可用于非薪资开销，比如交房租，水电，等等。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必须雇佣回与疫情发生前数量一致员工的时间期限从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日延长到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31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日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如果贷款不能免还，偿还期如果是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号之前批准的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贷款偿还期保持为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年期，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号后批准为至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贷款偿还期从放款后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个月开始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32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F2B6-4468-4019-859F-E66F88C41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spc="40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Times New Roman" panose="02020603050405020304" pitchFamily="18" charset="0"/>
                <a:cs typeface="Microsoft YaHei" panose="020B0503020204020204" pitchFamily="34" charset="-122"/>
              </a:rPr>
              <a:t>PPP</a:t>
            </a:r>
            <a:r>
              <a:rPr lang="zh-CN" sz="4400" b="1" spc="40" dirty="0">
                <a:solidFill>
                  <a:srgbClr val="3E3E3E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贷款免还金额的计算方法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9476-547D-456B-9D65-E94FB3471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免还金额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薪资成本（贷款总额的至少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60%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非薪资成本（贷款总额的最多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40%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- EIDL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Advance 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Economic Injury Disaster Loan) 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（经济损害灾难贷款）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贷款的至少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60%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必须用于美国境内的员工薪资福利，最多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40%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是用于非薪资成本。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0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62FC-5F15-4F10-9F2E-702A06A17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免还金额的组成部分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C4887-C74F-40E7-ADFC-BC5CD49A7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1)</a:t>
            </a:r>
            <a:r>
              <a:rPr 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薪资成本（至少</a:t>
            </a:r>
            <a:r>
              <a:rPr lang="en-US" sz="2500" b="1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60%</a:t>
            </a:r>
            <a:r>
              <a:rPr 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）</a:t>
            </a:r>
            <a:r>
              <a:rPr 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sz="25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工资、佣金、危险工资、奖金、小费等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年假、带薪假、带薪病假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工资税、州税、地方税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团体医保、退休金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如果有餐厅老板在之前也有给自己发工资，也可以把自己的人工算进薪资成本内。但需要注意的是，每个员工的上限不能超过每年</a:t>
            </a:r>
            <a:r>
              <a:rPr lang="en-US" sz="2500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万美金</a:t>
            </a:r>
            <a:endParaRPr lang="en-US" altLang="zh-CN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r>
              <a:rPr lang="zh-CN" altLang="en-US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）</a:t>
            </a:r>
            <a:r>
              <a:rPr 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非薪资成本（最多</a:t>
            </a:r>
            <a:r>
              <a:rPr lang="en-US" sz="2500" b="1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r>
              <a:rPr 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）</a:t>
            </a:r>
            <a:r>
              <a:rPr lang="zh-CN" sz="2500" b="1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sz="25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商业抵押债务的利息支付（本金不能算）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商店租金或租赁付款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水电煤气、交通费、电话、网</a:t>
            </a: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费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这些都是指</a:t>
            </a:r>
            <a:r>
              <a:rPr lang="en-US" sz="2500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年</a:t>
            </a:r>
            <a:r>
              <a:rPr lang="en-US" sz="2500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月</a:t>
            </a:r>
            <a:r>
              <a:rPr lang="en-US" sz="2500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sz="2500" dirty="0">
                <a:solidFill>
                  <a:srgbClr val="666666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日前就存在的合同在覆盖期需支付的费用</a:t>
            </a:r>
            <a:endParaRPr lang="en-US" sz="2500" dirty="0">
              <a:solidFill>
                <a:srgbClr val="666666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235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E8F3-69AE-4751-B4D7-7F7214B3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PPP</a:t>
            </a:r>
            <a:r>
              <a:rPr lang="zh-CN" altLang="en-US" b="1" dirty="0"/>
              <a:t>免还申请的</a:t>
            </a:r>
            <a:r>
              <a:rPr lang="en-US" altLang="zh-CN" b="1" dirty="0"/>
              <a:t>FTE</a:t>
            </a:r>
            <a:r>
              <a:rPr lang="zh-CN" altLang="en-US" b="1" dirty="0"/>
              <a:t>员工算法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913B-DBE8-4793-9DE4-5BF62C8ED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免还申请中，有一个非常重要的概念 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 (Full Time Equivalent)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（全职），这个数字和员工福利的算法不同。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 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是将每周工作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个小时的员工计为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，每周工作时间少于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个小时的员工计为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0.5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。 比如，一个餐厅有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个员工每周工作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小时，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个员工工作少于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小时，那么这个餐厅此时的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即为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贷款的免还申请中，会将覆盖期的平均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与疫情发生前的每月平均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进行比较，可选择的参考期为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2019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月至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月或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月、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月；季节性雇主还可以选择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2019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月到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月。建议大家选择和今年的数据进行比较，方便找文件资料。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如果您覆盖期的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数量少于您参考期的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数量，免还的额度可能会减少。但只要在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31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日前，重新把员工都请回来则不受影响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64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8D55-CF8E-4077-BD05-6A159812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ffectLst/>
              </a:rPr>
              <a:t>PPP</a:t>
            </a:r>
            <a:r>
              <a:rPr lang="zh-CN" altLang="en-US" b="1" dirty="0">
                <a:effectLst/>
              </a:rPr>
              <a:t>免还申请需要准备的文件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68494-28C6-4227-A706-AB079D16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这些文件有的在申请贷款的时候已经提交过，但 建议餐饮业主们在提交免还申请的时候再次提交，以加快审批速度。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zh-CN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证明您的薪资开支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：可以用银行账单、第三方薪酬服务方证明现金补偿给雇员的报告、税表、州季度工资报告、失业保险税申报表、支付医疗保险的收据账单等。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zh-CN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证明您的</a:t>
            </a: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数量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：税表、州季度工资报告和失业保险税申报表等（要能体现您在覆盖期间雇佣平均每月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员工数量和参考期间雇佣平均每月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员工数量的对比）。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zh-CN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证明您的非薪资开支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：商业贷款支付的收据、从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月开始的账单、商业租赁合同、账单、支付水电网气的收据等。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563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C6FC8-0224-47FB-AA21-04BF78E1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66666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PPP </a:t>
            </a:r>
            <a:r>
              <a:rPr lang="zh-CN" sz="2400" b="1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免还申请的</a:t>
            </a:r>
            <a:r>
              <a:rPr lang="zh-CN" altLang="en-US" sz="2400" b="1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注意事项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D409E-A48B-4F42-BC06-CDB75B451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如果您在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31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日前就用完了贷款，可以跟您的借款机构提前提交免还申请。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借款人需要将所有文件资料（比如工资单，银行账单，贷款单）保存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 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年，以便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SBA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查账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没有免除的贷款金额需要支付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1%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的利率偿还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SzPts val="1000"/>
              <a:buNone/>
              <a:tabLst>
                <a:tab pos="457200" algn="l"/>
              </a:tabLst>
            </a:pPr>
            <a:endParaRPr lang="en-US" dirty="0">
              <a:solidFill>
                <a:srgbClr val="666666"/>
              </a:solidFill>
              <a:latin typeface="+mj-lt"/>
              <a:ea typeface="Microsoft YaHei" panose="020B0503020204020204" pitchFamily="34" charset="-122"/>
            </a:endParaRPr>
          </a:p>
          <a:p>
            <a:pPr marL="0" indent="0">
              <a:buSzPts val="1000"/>
              <a:buNone/>
              <a:tabLst>
                <a:tab pos="457200" algn="l"/>
              </a:tabLst>
            </a:pPr>
            <a:endParaRPr lang="en-US" dirty="0">
              <a:solidFill>
                <a:srgbClr val="666666"/>
              </a:solidFill>
              <a:latin typeface="+mj-lt"/>
              <a:ea typeface="Microsoft YaHei" panose="020B0503020204020204" pitchFamily="34" charset="-12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33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1FFC-D59F-4092-A36C-C9C99F2B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666666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PPP </a:t>
            </a:r>
            <a:r>
              <a:rPr lang="zh-CN" altLang="en-US" sz="2400" b="1" dirty="0">
                <a:solidFill>
                  <a:srgbClr val="666666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免还申请的重要时间节点</a:t>
            </a:r>
            <a:endParaRPr lang="en-US" sz="2400" b="1" dirty="0">
              <a:solidFill>
                <a:srgbClr val="666666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6A880-0FFA-43C9-9852-EE273439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贷款覆盖期为收到银行放款后的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个月，最晚是到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31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日</a:t>
            </a:r>
            <a:endParaRPr lang="en-US" sz="24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贷款覆盖期间重新雇佣豁免的时间从以前的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日，延长到了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2020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31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日</a:t>
            </a:r>
            <a:endParaRPr lang="en-US" sz="24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贷款需要用完的时间从以前的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个星期，延长到了</a:t>
            </a:r>
            <a:r>
              <a:rPr 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zh-CN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2400" dirty="0">
                <a:effectLst/>
                <a:latin typeface="+mj-lt"/>
                <a:ea typeface="DengXian" panose="02010600030101010101" pitchFamily="2" charset="-122"/>
                <a:cs typeface="Times New Roman" panose="02020603050405020304" pitchFamily="18" charset="0"/>
              </a:rPr>
              <a:t>星期</a:t>
            </a:r>
            <a:endParaRPr lang="en-US" sz="2400" dirty="0">
              <a:effectLst/>
              <a:latin typeface="+mj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284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2260-7292-41FC-AF52-D0E851D5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666666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PPP</a:t>
            </a:r>
            <a:r>
              <a:rPr lang="zh-CN" altLang="en-US" sz="2400" b="1" dirty="0">
                <a:solidFill>
                  <a:srgbClr val="666666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免还申请的申请流程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0E0F-E35E-49D3-8FC5-DCBEF573D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联系您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贷款放款银行或者贷款专员， 在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周内或者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日之前申请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填写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免还申请表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alt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免还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要求的必要材料（后面会详细讲解）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银行在收到借款方的免还申请后的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天内，将会通知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SBA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免还的金额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SBA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将在</a:t>
            </a:r>
            <a:r>
              <a:rPr lang="en-U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天内拨出这笔款项还给银行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793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D37B-7984-4D28-BECE-FAC28C6CA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400" b="1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免还申请表格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E7E4E-8E43-4093-A34F-55D27A2D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198" y="1528742"/>
            <a:ext cx="10515600" cy="435133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zh-CN" altLang="en-US" sz="2000" u="sng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需要以下几</a:t>
            </a:r>
            <a:r>
              <a:rPr lang="zh-CN" sz="2000" u="sng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个文件：</a:t>
            </a:r>
            <a:endParaRPr lang="en-US" sz="2000" u="sng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贷款减免计算表（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 Loan Forgiveness Calculation Form)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 Schedule A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工作表（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PPP Schedule A Worksheet</a:t>
            </a:r>
            <a:r>
              <a:rPr lang="zh-CN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20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39E6-17AB-487D-88B4-9877319E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PPP</a:t>
            </a:r>
            <a:r>
              <a:rPr lang="zh-CN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贷款减免计算表</a:t>
            </a:r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(PPP Loan Forgiveness Calculation Form)---</a:t>
            </a:r>
            <a:r>
              <a:rPr lang="zh-CN" alt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演示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其中的一些信息，更多的详细内容，可以咨询您申请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PPP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的银行员工。</a:t>
            </a:r>
            <a:endParaRPr lang="en-US" sz="20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3A9B7E-EBB6-42C6-A9D5-8AD7BBA00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47" y="1690688"/>
            <a:ext cx="10515600" cy="4351338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企业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TIN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（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EIN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，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SSN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）：输入与您的《借款人申请表》上相同的信息。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企业地址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/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企业电话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/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主要联络人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/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电子邮件地址：输入与您的《借款人申请表》上相同的信息，除非地址或联系信息已发生变化。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SBA PPP 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贷款编号：输入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SBA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在批准贷款时分配的贷款编号。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PPP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贷款金额：输入已发放的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PPP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贷款本金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申请贷款时的雇员人数：输入提交《借款人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PPP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贷款申请表》时的雇员总数。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申请免还的雇员人数：输入借款人申请贷款免还时的雇员总数。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PPP 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贷款发放日期：输入您从贷款机构收到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PPP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贷款资金的日期。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EIDL </a:t>
            </a:r>
            <a:r>
              <a:rPr 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（经济损害灾难贷款）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预付款：如果借款人收到经济损失赈灾贷款（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EIDL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）预付款，请输入该款项金额。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EIDL 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申请号：请输入借款人的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EIDL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申请号。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发薪时间表：选择与您的发薪时间表相对应的方框。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覆盖期：覆盖期的第一天必须与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PPP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贷款发放日期相同。例如，如果借款人在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4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月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20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日，星期一收到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PPP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贷款资金，涵盖期间的第一天则是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4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月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20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日，涵盖期间的最后一天是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6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月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14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日星期日。</a:t>
            </a:r>
            <a:endParaRPr lang="en-US" sz="1800" dirty="0">
              <a:solidFill>
                <a:srgbClr val="000000"/>
              </a:solidFill>
              <a:effectLst/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79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128D-2819-474C-A2DD-2EBBC863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5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PPP</a:t>
            </a:r>
            <a:r>
              <a:rPr lang="zh-CN" sz="2000" b="1" spc="40" dirty="0">
                <a:solidFill>
                  <a:srgbClr val="3E3E3E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贷款减免计算表</a:t>
            </a:r>
            <a: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(PPP Loan Forgiveness Calculation Form</a:t>
            </a:r>
            <a:b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必须填写的第一份表格</a:t>
            </a:r>
            <a:r>
              <a:rPr lang="zh-CN" altLang="en-US" sz="2000" b="1" dirty="0"/>
              <a:t>（表格第一页）</a:t>
            </a:r>
            <a:endParaRPr lang="en-US" sz="2000"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E37C8D5-BD3A-4DC7-8D48-440D4BC3E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500" y="1996281"/>
            <a:ext cx="647700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35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EA2D-1FD8-4530-A424-8C75ABF5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PPP</a:t>
            </a:r>
            <a:r>
              <a:rPr lang="zh-CN" sz="2000" b="1" spc="40" dirty="0">
                <a:solidFill>
                  <a:srgbClr val="3E3E3E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贷款减免计算表</a:t>
            </a:r>
            <a: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(PPP Loan Forgiveness Calculation Form) </a:t>
            </a:r>
            <a:b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000" b="1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必须填写的第</a:t>
            </a:r>
            <a:r>
              <a:rPr lang="zh-CN" altLang="en-US" sz="2000" spc="40" dirty="0">
                <a:solidFill>
                  <a:srgbClr val="3E3E3E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一份表格</a:t>
            </a:r>
            <a:r>
              <a:rPr lang="zh-CN" altLang="en-US" sz="2000" dirty="0"/>
              <a:t>（表格第一页）</a:t>
            </a:r>
            <a:endParaRPr lang="en-US" sz="20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C854757-0BD9-4B77-86A7-D5EA5A0B5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9034" y="1690687"/>
            <a:ext cx="6393866" cy="488889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5A5C2-3632-4D86-97B5-D7EDE4821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66" y="1690688"/>
            <a:ext cx="5277767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78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9FE1-99D4-4804-8A51-B9740A90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A(PPP Schedule A)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这份表借款人必须完成并提交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必须填写的第二份表格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A530BD9-B85C-4C93-A1A0-596C75A40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1535" y="1825625"/>
            <a:ext cx="693858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78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4CBC-468F-4ADD-963C-ABAD29B3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A(PPP Schedule A)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这份表借款人必须完成并提交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必须填写的第二份表格</a:t>
            </a:r>
            <a:endParaRPr 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867BF-E740-4A2D-975E-93317532A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1D641-2A80-4C45-80EB-035E15A6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7704902" cy="419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0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A6EB-1FA8-4061-B604-F260F3EE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A(PPP Schedule A)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这份表借款人必须完成并提交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必须填写的第二份表格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7259B9-3D8E-40FE-AB98-E2CE12687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253" y="1825625"/>
            <a:ext cx="720089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39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BEBC-B20F-46AB-A358-43EA67FB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sz="20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A(PPP Schedule A)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这份表借款人必须完成并提交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必须填写的第二份表格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C10E1-4E48-4F57-9506-8F1460F17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9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 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填写覆盖期间支付给所有者的金额，每人上限为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$15385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10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 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将本表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1+4+6+7+8+9 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加起来 （这就是第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1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份表里的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）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11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 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参考期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FTE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数量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可以选的参考期有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02/15/2019-06/30/2019 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或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01/01/2020-02/29/2020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；季节性雇主还可以选择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05/01/2019-09/15/2019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连续的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12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周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如果您覆盖期的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FTE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数量少于您参考期的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FTE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数量，免还的额度可能会减少。但是如果您满足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FTE Reduction Safe Harbor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的条件，就可以豁免。我们会在下一份表里详细解释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FTE Reduction Safe Harbor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的条件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12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 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本表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 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2 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加上本表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5</a:t>
            </a:r>
            <a:b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13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 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本表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11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除以本表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Line 12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rPr>
              <a:t> 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(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最大值为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1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，如果满足您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FTE Reduction Safe Harbor</a:t>
            </a:r>
            <a:r>
              <a:rPr lang="zh-CN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直接输入</a:t>
            </a:r>
            <a:r>
              <a:rPr lang="en-US" sz="1800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1)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769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47B5-9E32-495B-92DE-780462D2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第三份表格</a:t>
            </a:r>
            <a:b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工作表</a:t>
            </a:r>
            <a:r>
              <a:rPr lang="en-US" altLang="zh-CN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(PPP Schedule A Worksheet</a:t>
            </a:r>
            <a:r>
              <a:rPr lang="zh-CN" altLang="en-US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8ACA3-19DF-4607-AC6A-451B6E491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SimSun" panose="02010600030101010101" pitchFamily="2" charset="-122"/>
              </a:rPr>
              <a:t>这份表借款人必须完成并需要保存，不强制提交。如果您的薪酬平时是由薪酬系统或者第三方处理的，也可以用薪酬系统或者第三方提供的报告。</a:t>
            </a:r>
            <a:b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</a:br>
            <a:b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</a:b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Table 1 &amp; Table 2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都是用来填写员工基本信息和薪资水平的，区别在于</a:t>
            </a: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Table 1 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用于填写覆盖期有雇佣关系，且</a:t>
            </a: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2019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年薪资总计少于</a:t>
            </a: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10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万美金，或者在</a:t>
            </a: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2019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年没被雇佣的员工信息；</a:t>
            </a: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Table 2 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用于填写在覆盖期有雇佣关系且</a:t>
            </a: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2019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年薪资超过</a:t>
            </a:r>
            <a:r>
              <a:rPr lang="en-US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10</a:t>
            </a:r>
            <a:r>
              <a:rPr lang="zh-CN" sz="1800" b="1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DengXian" panose="02010600030101010101" pitchFamily="2" charset="-122"/>
                <a:cs typeface="SimSun" panose="02010600030101010101" pitchFamily="2" charset="-122"/>
              </a:rPr>
              <a:t>万美金的员工信息。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442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DD86-550D-40FC-BA24-DEDEDAD2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工作表</a:t>
            </a:r>
            <a:r>
              <a:rPr lang="en-US" altLang="zh-CN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(PPP Schedule A Worksheet</a:t>
            </a:r>
            <a:r>
              <a:rPr lang="zh-CN" altLang="en-US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br>
              <a:rPr lang="en-US" altLang="zh-CN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2000" b="0" dirty="0">
                <a:solidFill>
                  <a:srgbClr val="4146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需要自己填写完成，不强制提交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F8DD651-C1AE-419D-A788-C6015E405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49" y="2348706"/>
            <a:ext cx="7142303" cy="358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63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ED52-648A-4149-9291-B3D10F3E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工作表</a:t>
            </a:r>
            <a:r>
              <a:rPr lang="en-US" altLang="zh-CN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(PPP Schedule A Worksheet</a:t>
            </a:r>
            <a:r>
              <a:rPr lang="zh-CN" altLang="en-US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br>
              <a:rPr lang="en-US" altLang="zh-CN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2000" b="1" dirty="0">
                <a:solidFill>
                  <a:srgbClr val="4146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需要自己填写完成，不强制提交</a:t>
            </a:r>
            <a:endParaRPr 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E6C818A-37DF-4B5C-87FC-318B7E48B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4625" y="3034506"/>
            <a:ext cx="9202030" cy="263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67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C969-FC49-429F-853A-1EE4F495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PPP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r>
              <a:rPr lang="en-US" altLang="zh-CN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000" b="1" dirty="0">
                <a:solidFill>
                  <a:srgbClr val="3E3E3E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工作表</a:t>
            </a:r>
            <a:r>
              <a:rPr lang="en-US" altLang="zh-CN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(PPP Schedule A Worksheet</a:t>
            </a:r>
            <a:r>
              <a:rPr lang="zh-CN" altLang="en-US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br>
              <a:rPr lang="en-US" altLang="zh-CN" sz="2000" b="1" dirty="0">
                <a:solidFill>
                  <a:srgbClr val="41464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sz="2000" b="0" dirty="0">
                <a:solidFill>
                  <a:srgbClr val="4146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需要自己填写完成，不强制提交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02F99-02A6-4DE5-8DA4-5C787C255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marR="76200" lvl="1">
              <a:lnSpc>
                <a:spcPts val="21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此处有众多老板最关心的问题，如果我想员工雇佣回来，但是员工不愿意，那我的这笔钱发不出去、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FTE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减少了怎么办？</a:t>
            </a:r>
            <a:endParaRPr lang="en-US" altLang="zh-CN" sz="2000" spc="40" dirty="0">
              <a:solidFill>
                <a:srgbClr val="000000"/>
              </a:solidFill>
              <a:effectLst/>
              <a:latin typeface="Calibri" panose="020F0502020204030204" pitchFamily="34" charset="0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533400" marR="76200" lvl="1">
              <a:lnSpc>
                <a:spcPts val="21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表里的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FTE Reduction Exceptions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可以填写符合以下情况并且职位也没有招到新员工的数量，并且也不会影响您的免还金额：老板发了书面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offer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愿意在覆盖期间聘请员工回来，但是员工拒绝；或者是覆盖期间雇员有正当的理由被炒掉，自愿离职，自愿要求减少工作时间的</a:t>
            </a:r>
            <a:r>
              <a:rPr lang="zh-CN" sz="2000" b="1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。所以这段时间，请您一定要保存好和员工书面交流的证明。</a:t>
            </a:r>
            <a:endParaRPr lang="en-US" altLang="zh-CN" sz="2000" b="1" spc="40" dirty="0">
              <a:solidFill>
                <a:srgbClr val="000000"/>
              </a:solidFill>
              <a:effectLst/>
              <a:latin typeface="Calibri" panose="020F0502020204030204" pitchFamily="34" charset="0"/>
              <a:ea typeface="Microsoft YaHei" panose="020B0503020204020204" pitchFamily="34" charset="-122"/>
              <a:cs typeface="Microsoft YaHei" panose="020B0503020204020204" pitchFamily="34" charset="-122"/>
            </a:endParaRPr>
          </a:p>
          <a:p>
            <a:pPr marL="533400" marR="76200" lvl="1">
              <a:lnSpc>
                <a:spcPts val="21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FTE Reduction Safe Harbor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条件：如果您在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02/15/2020-04/26/2020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期间减少了员工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FTE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数量，但是在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06/30/2020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之前恢复了包含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02/15/2020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当天在内的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 Period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的员工</a:t>
            </a:r>
            <a:r>
              <a:rPr lang="en-US" sz="2000" spc="4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FTE</a:t>
            </a:r>
            <a:r>
              <a:rPr lang="zh-CN" sz="2000" spc="4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数量，也不会影响您的免还金额。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251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373-19BF-4327-8633-E49505A6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采用的相关网站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0DD93-747F-4030-A73F-1640C5695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https://www.sba.gov/sites/default/files/2020-06/3245-0407%20SBA%20Form%203508%20PPP%20Forgiveness%20Application%20FINAL_Simplified%20Chinese%20%281%29.pdf</a:t>
            </a:r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SBA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中文信息）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https://www.sba.gov/sites/default/files/2020-06/PPP%20Loan%20Forgiveness%20Application%20Form%20EZ%20Instructions%20%28Revised%2006.16.2020%29-508.pdf</a:t>
            </a:r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SBA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英文文信息）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https://www.sba.gov/funding-programs/loans/coronavirus-relief-options/paycheck-protection-program</a:t>
            </a:r>
            <a:r>
              <a:rPr 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SBA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官方网站）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5298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85C0-5FD0-4E4D-AF53-15350D0B78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问答时间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E5F76-19A1-4A7E-A075-FCE255854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687" y="3614657"/>
            <a:ext cx="5000625" cy="40957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5441D2B-870B-4349-89EF-61EE21232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51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3301</Words>
  <Application>Microsoft Office PowerPoint</Application>
  <PresentationFormat>Widescreen</PresentationFormat>
  <Paragraphs>101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Microsoft YaHei</vt:lpstr>
      <vt:lpstr>SimSun</vt:lpstr>
      <vt:lpstr>Arial</vt:lpstr>
      <vt:lpstr>Calibri</vt:lpstr>
      <vt:lpstr>Calibri Light</vt:lpstr>
      <vt:lpstr>Segoe UI</vt:lpstr>
      <vt:lpstr>Symbol</vt:lpstr>
      <vt:lpstr>Times New Roman</vt:lpstr>
      <vt:lpstr>Office Theme</vt:lpstr>
      <vt:lpstr>                              PPP贷款免还项目                                     综合介绍</vt:lpstr>
      <vt:lpstr>PPP计划是什么？</vt:lpstr>
      <vt:lpstr>PPP贷款免还的介绍</vt:lpstr>
      <vt:lpstr>PPP贷款免还要点介绍</vt:lpstr>
      <vt:lpstr>PPP贷款免还金额的计算方法</vt:lpstr>
      <vt:lpstr>免还金额的组成部分</vt:lpstr>
      <vt:lpstr>PPP免还申请的FTE员工算法</vt:lpstr>
      <vt:lpstr>PPP免还申请需要准备的文件</vt:lpstr>
      <vt:lpstr>PPP 免还申请的注意事项</vt:lpstr>
      <vt:lpstr>PPP 免还申请的重要时间节点</vt:lpstr>
      <vt:lpstr>PPP免还申请的申请流程</vt:lpstr>
      <vt:lpstr>PPP免还申请表格</vt:lpstr>
      <vt:lpstr>PPP贷款减免计算表(PPP Loan Forgiveness Calculation Form)---演示其中的一些信息，更多的详细内容，可以咨询您申请PPP的银行员工。</vt:lpstr>
      <vt:lpstr>PPP贷款减免计算表(PPP Loan Forgiveness Calculation Form  必须填写的第一份表格（表格第一页）</vt:lpstr>
      <vt:lpstr>PPP贷款减免计算表(PPP Loan Forgiveness Calculation Form)   必须填写的第一份表格（表格第一页）</vt:lpstr>
      <vt:lpstr>PPP表A(PPP Schedule A)这份表借款人必须完成并提交——必须填写的第二份表格</vt:lpstr>
      <vt:lpstr>PPP表A(PPP Schedule A)这份表借款人必须完成并提交——必须填写的第二份表格</vt:lpstr>
      <vt:lpstr>PPP表A(PPP Schedule A)这份表借款人必须完成并提交——必须填写的第二份表格</vt:lpstr>
      <vt:lpstr>PPP表A(PPP Schedule A)这份表借款人必须完成并提交——必须填写的第二份表格</vt:lpstr>
      <vt:lpstr>第三份表格 PPP表A工作表(PPP Schedule A Worksheet）</vt:lpstr>
      <vt:lpstr>PPP表A工作表(PPP Schedule A Worksheet） 需要自己填写完成，不强制提交</vt:lpstr>
      <vt:lpstr>PPP表A工作表(PPP Schedule A Worksheet） 需要自己填写完成，不强制提交</vt:lpstr>
      <vt:lpstr>PPP表A工作表(PPP Schedule A Worksheet） 需要自己填写完成，不强制提交</vt:lpstr>
      <vt:lpstr>采用的相关网站</vt:lpstr>
      <vt:lpstr>问答时间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PPP贷款免还项目                                     综合介绍</dc:title>
  <dc:creator>Belle Liu</dc:creator>
  <cp:lastModifiedBy>Kefei Yin</cp:lastModifiedBy>
  <cp:revision>23</cp:revision>
  <cp:lastPrinted>2020-07-09T17:27:44Z</cp:lastPrinted>
  <dcterms:created xsi:type="dcterms:W3CDTF">2020-07-08T18:07:12Z</dcterms:created>
  <dcterms:modified xsi:type="dcterms:W3CDTF">2020-07-20T22:34:46Z</dcterms:modified>
</cp:coreProperties>
</file>